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32B"/>
              </a:solidFill>
              <a:effectLst/>
            </c:spPr>
          </c:dPt>
          <c:dPt>
            <c:idx val="1"/>
            <c:bubble3D val="0"/>
            <c:spPr>
              <a:solidFill>
                <a:srgbClr val="C97A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Benign (62.7%)</c:v>
                </c:pt>
                <c:pt idx="1">
                  <c:v>Malignant (37.3%)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357</c:v>
                </c:pt>
                <c:pt idx="1">
                  <c:v>212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E6E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4114800" cy="4114800"/>
          </a:xfrm>
          <a:prstGeom prst="ellipse">
            <a:avLst/>
          </a:prstGeom>
          <a:solidFill>
            <a:srgbClr val="1C463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ln w="19050">
            <a:solidFill>
              <a:srgbClr val="C97A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359152"/>
            <a:ext cx="146304" cy="146304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249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INTERNSHIP  ·  NAVIOTECH SOLUTION  ·  JUNE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Cancer Classification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and Prediction Using Neural Networks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diagnostic support system that classifies breast tumors as Benign or Malignant from clinical measurements.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5212080"/>
            <a:ext cx="2011680" cy="0"/>
          </a:xfrm>
          <a:prstGeom prst="line">
            <a:avLst/>
          </a:prstGeom>
          <a:noFill/>
          <a:ln w="25400">
            <a:solidFill>
              <a:srgbClr val="C97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Anshuman Panda  |  B.Tech CSE (Data Science)  |  Gandhi Engineering College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Diagnosing breast cancer, faster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the most commonly diagnosed cancer among women worldwide. Early, accurate diagnosis dramatically improves treatment outcomes and survival rates — but relies heavily on expert interpretation of biopsy samples.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2461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2.3M+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06040" y="3246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breast cancer cases diagnosed globally each year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251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569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42519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biopsy records used to train this 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2578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5257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30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52578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cell-nuclei measurements per patient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169164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12332B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2377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classification model can act as a fast, consistent second opinion — supporting, not replacing, expert pathologists.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09560" y="3794760"/>
            <a:ext cx="3200400" cy="0"/>
          </a:xfrm>
          <a:prstGeom prst="line">
            <a:avLst/>
          </a:prstGeom>
          <a:noFill/>
          <a:ln w="19050">
            <a:solidFill>
              <a:srgbClr val="1C46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40233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Breast Cancer Wisconsin (Diagnostic) Dataset — a benchmark used widely in medical ML research since 1995.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this project set out to 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194560"/>
            <a:ext cx="640080" cy="640080"/>
          </a:xfrm>
          <a:prstGeom prst="ellipse">
            <a:avLst/>
          </a:prstGeom>
          <a:solidFill>
            <a:srgbClr val="12332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Classify Tumors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neural network that classifies tumors as Benign or Malignant from 30 diagnostic features.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2194560"/>
            <a:ext cx="640080" cy="640080"/>
          </a:xfrm>
          <a:prstGeom prst="ellipse">
            <a:avLst/>
          </a:prstGeom>
          <a:solidFill>
            <a:srgbClr val="12332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Design &amp; Train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feed-forward neural network architecture and train it using TensorFlow/Keras.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0" y="18745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0" y="2194560"/>
            <a:ext cx="640080" cy="640080"/>
          </a:xfrm>
          <a:prstGeom prst="ellipse">
            <a:avLst/>
          </a:prstGeom>
          <a:solidFill>
            <a:srgbClr val="12332B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Validate &amp; Deploy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on unseen test data and build a working real-time predictive system.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Breast Cancer Wisconsin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3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66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569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32B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874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66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71616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32B"/>
          </a:solidFill>
          <a:ln/>
        </p:spPr>
      </p:sp>
      <p:sp>
        <p:nvSpPr>
          <p:cNvPr id="12" name="Text 10"/>
          <p:cNvSpPr/>
          <p:nvPr/>
        </p:nvSpPr>
        <p:spPr>
          <a:xfrm>
            <a:off x="6071616" y="1874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66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71616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95944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3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95944" y="1874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66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95944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Feature groups (10 measurements × 3 variants each)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3666744"/>
            <a:ext cx="109728" cy="109728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Texture, Perimeter  (mean / SE / worst)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23360" y="3666744"/>
            <a:ext cx="109728" cy="109728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Smoothness  (mean / SE / worst)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123944"/>
            <a:ext cx="109728" cy="109728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Compactness, Concavity  (mean / SE / worst)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3360" y="4123944"/>
            <a:ext cx="109728" cy="109728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Points, Symmetry  (mean / SE / worst)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178308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095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Target distribution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818120" y="2423160"/>
          <a:ext cx="33832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From raw data to model-ready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8288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CCB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9385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Load &amp;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93852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directly from scikit-learn's built-in dataset and converted to a labeled DataFrame.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8803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CCB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9900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Feature-Target 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99008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30 input features (X) from the target label (Y) — 1 = Benign, 0 = Malignant.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9319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CCB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40416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Train-Test Split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4041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455 training samples (80%) and 114 test samples (20%).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983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2332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9834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CCB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0" y="50932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509320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— fit on training data only, then applied to both sets.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simple feed-forward neural network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3337560" cy="91440"/>
          </a:xfrm>
          <a:prstGeom prst="roundRect">
            <a:avLst/>
          </a:prstGeom>
          <a:solidFill>
            <a:srgbClr val="1233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(30,) — accepts standardized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920240"/>
            <a:ext cx="3337560" cy="91440"/>
          </a:xfrm>
          <a:prstGeom prst="roundRect">
            <a:avLst/>
          </a:prstGeom>
          <a:solidFill>
            <a:srgbClr val="C97A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Hidden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· 20 units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— learns non-linear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920240"/>
            <a:ext cx="3337560" cy="91440"/>
          </a:xfrm>
          <a:prstGeom prst="roundRect">
            <a:avLst/>
          </a:prstGeom>
          <a:solidFill>
            <a:srgbClr val="C9A6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· 2 units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 — outputs class probabilities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How the model was trained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5943600" cy="0"/>
          </a:xfrm>
          <a:prstGeom prst="line">
            <a:avLst/>
          </a:prstGeom>
          <a:noFill/>
          <a:ln w="12700">
            <a:solidFill>
              <a:srgbClr val="1C4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Adam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943600" cy="0"/>
          </a:xfrm>
          <a:prstGeom prst="line">
            <a:avLst/>
          </a:prstGeom>
          <a:noFill/>
          <a:ln w="12700">
            <a:solidFill>
              <a:srgbClr val="1C4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Sparse Categorical Cross-Entropy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5943600" cy="0"/>
          </a:xfrm>
          <a:prstGeom prst="line">
            <a:avLst/>
          </a:prstGeom>
          <a:noFill/>
          <a:ln w="12700">
            <a:solidFill>
              <a:srgbClr val="1C46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5943600" cy="0"/>
          </a:xfrm>
          <a:prstGeom prst="line">
            <a:avLst/>
          </a:prstGeom>
          <a:noFill/>
          <a:ln w="12700">
            <a:solidFill>
              <a:srgbClr val="1C4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10% of training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19202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C46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455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5895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114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9520" y="4160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Accuracy across training epochs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9494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pic>
        <p:nvPicPr>
          <p:cNvPr id="6" name="Image 0" descr="/home/claude/cancer_ppt/accuracy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649224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78308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2332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accuracy converge closely by epoch 9 — both reaching approximately 95%.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3520440"/>
            <a:ext cx="2926080" cy="0"/>
          </a:xfrm>
          <a:prstGeom prst="line">
            <a:avLst/>
          </a:prstGeom>
          <a:noFill/>
          <a:ln w="19050">
            <a:solidFill>
              <a:srgbClr val="1C46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 alignment is a strong sign the model is not overfitting to the training data.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Loss across training epochs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9494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pic>
        <p:nvPicPr>
          <p:cNvPr id="6" name="Image 0" descr="/home/claude/cancer_ppt/los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649224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78308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2332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training and validation loss decrease smoothly and consistently across all 10 epochs.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3520440"/>
            <a:ext cx="2926080" cy="0"/>
          </a:xfrm>
          <a:prstGeom prst="line">
            <a:avLst/>
          </a:prstGeom>
          <a:noFill/>
          <a:ln w="19050">
            <a:solidFill>
              <a:srgbClr val="1C46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divergence between the two curves confirms stable, well-behaved training.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12332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66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95.61%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A9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0.1469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32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114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924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Evaluated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46304" cy="146304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035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Testing on a new patient sample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set of 30 diagnostic measurements was passed through the full pipeline — standardization, prediction, and label conversion: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60350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233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7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Model Output Probabilities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3383280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EDE6DC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3383280"/>
            <a:ext cx="146304" cy="274320"/>
          </a:xfrm>
          <a:prstGeom prst="roundRect">
            <a:avLst>
              <a:gd name="adj" fmla="val 31250"/>
            </a:avLst>
          </a:prstGeom>
          <a:solidFill>
            <a:srgbClr val="C97A9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337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3931920"/>
            <a:ext cx="3383280" cy="274320"/>
          </a:xfrm>
          <a:prstGeom prst="roundRect">
            <a:avLst>
              <a:gd name="adj" fmla="val 16667"/>
            </a:avLst>
          </a:prstGeom>
          <a:solidFill>
            <a:srgbClr val="EDE6DC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3931920"/>
            <a:ext cx="2523744" cy="274320"/>
          </a:xfrm>
          <a:prstGeom prst="roundRect">
            <a:avLst>
              <a:gd name="adj" fmla="val 16667"/>
            </a:avLst>
          </a:prstGeom>
          <a:solidFill>
            <a:srgbClr val="12332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886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572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class: argmax of the two probability scores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260604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1233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3291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Benign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452360" y="4114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matched the known ground-truth label for this sample record.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463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04672"/>
            <a:ext cx="146304" cy="146304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949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this project achieved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128016" cy="128016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945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trained a feed-forward neural network for breast cancer classification using TensorFlow/Keras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026664"/>
            <a:ext cx="128016" cy="128016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803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 strong 95.61% test accuracy with stable, well-converged training and validation curves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12464"/>
            <a:ext cx="128016" cy="128016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661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complete ML lifecycle: data collection, preprocessing, architecture design, training, and evaluation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98264"/>
            <a:ext cx="128016" cy="128016"/>
          </a:xfrm>
          <a:prstGeom prst="ellipse">
            <a:avLst/>
          </a:prstGeom>
          <a:solidFill>
            <a:srgbClr val="C97A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519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predictive system, and understood why interpretability and validation matter in healthcare AI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228600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C46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514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880360"/>
            <a:ext cx="2788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SVM, Random Forest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explainability (SHAP values)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clinician screening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035040"/>
            <a:ext cx="10332720" cy="0"/>
          </a:xfrm>
          <a:prstGeom prst="line">
            <a:avLst/>
          </a:prstGeom>
          <a:noFill/>
          <a:ln w="12700">
            <a:solidFill>
              <a:srgbClr val="1C46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F1EC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Thank you  —  Questions welcome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2026-07-18T06:27:17Z</dcterms:created>
  <dcterms:modified xsi:type="dcterms:W3CDTF">2026-07-18T06:27:17Z</dcterms:modified>
</cp:coreProperties>
</file>